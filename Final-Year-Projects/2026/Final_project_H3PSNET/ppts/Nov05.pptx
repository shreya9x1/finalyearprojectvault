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Robo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E2208A6-C59D-4DE5-8DAC-D0369C0492C3}">
  <a:tblStyle styleId="{8E2208A6-C59D-4DE5-8DAC-D0369C0492C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11" Type="http://schemas.openxmlformats.org/officeDocument/2006/relationships/slide" Target="slides/slide5.xml"/><Relationship Id="rId22" Type="http://schemas.openxmlformats.org/officeDocument/2006/relationships/font" Target="fonts/Roboto-boldItalic.fntdata"/><Relationship Id="rId10" Type="http://schemas.openxmlformats.org/officeDocument/2006/relationships/slide" Target="slides/slide4.xml"/><Relationship Id="rId21" Type="http://schemas.openxmlformats.org/officeDocument/2006/relationships/font" Target="fonts/Robot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Roboto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a078ab531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a078ab531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078ab531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078ab531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078ab531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078ab531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078ab5318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078ab5318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078ab5318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a078ab5318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078ab5318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078ab5318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078ab5318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078ab5318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078ab5318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a078ab5318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078ab5318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078ab5318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0d419259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0d41925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078ab5318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078ab5318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Imbalance Problem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306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Generating Inverse Feature Space for Class Imbalance in Point Cloud Semantic Segmentation(2025/IEEE TPAMI)</a:t>
            </a:r>
            <a:endParaRPr sz="1500"/>
          </a:p>
        </p:txBody>
      </p:sp>
      <p:graphicFrame>
        <p:nvGraphicFramePr>
          <p:cNvPr id="60" name="Google Shape;60;p14"/>
          <p:cNvGraphicFramePr/>
          <p:nvPr/>
        </p:nvGraphicFramePr>
        <p:xfrm>
          <a:off x="311700" y="1086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{8E2208A6-C59D-4DE5-8DAC-D0369C0492C3}</a:tableStyleId>
              </a:tblPr>
              <a:tblGrid>
                <a:gridCol w="2515800"/>
                <a:gridCol w="2438200"/>
                <a:gridCol w="1525000"/>
                <a:gridCol w="1966850"/>
              </a:tblGrid>
              <a:tr h="14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Key Points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Research Gaps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Dataset Used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Model/ Architecture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 Proposes InvSpaceNet: dual-branch network, leverages "inverse feature space" with momentum-updated prototypes and contrastive loss.</a:t>
                      </a:r>
                      <a:endParaRPr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 Instance-balanced and inverse sampling brances correct cognitive bias for minority classes.</a:t>
                      </a:r>
                      <a:endParaRPr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 Loss re-weighting optimized dynamically during training.</a:t>
                      </a:r>
                      <a:endParaRPr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 Outperforms baselines on four benchmarks, especially on minority classes.</a:t>
                      </a:r>
                      <a:endParaRPr b="1"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 Traditional class-imbalance (weighted loss, brute sampling) techniques fail in segmentation or disrupt scene structure/balance.</a:t>
                      </a:r>
                      <a:endParaRPr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 Extreme or near-perfect class imbalance remains challenging for InvSpaceNet.</a:t>
                      </a:r>
                      <a:endParaRPr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 Open question: how to further strengthen minority-class representation in extremely imbalanced scenarios.</a:t>
                      </a:r>
                      <a:endParaRPr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S3DIS, ScanNet v2, Toronto-3D, SemanticKITTI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 Dual-branch architecture</a:t>
                      </a:r>
                      <a:endParaRPr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 Uses various backbones: MLP (PointNet++), CNN (SPVCNN, MinkowskiNet), Transformer (PTv2), RNN (RSNet).</a:t>
                      </a:r>
                      <a:endParaRPr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317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3D-AOCL:Analyticonlinecontinuallearningforimbalanced3Dpointcloud classification (2025/</a:t>
            </a:r>
            <a:r>
              <a:rPr lang="en" sz="1500"/>
              <a:t>Sciencedirect</a:t>
            </a:r>
            <a:r>
              <a:rPr lang="en" sz="1500"/>
              <a:t>)</a:t>
            </a:r>
            <a:endParaRPr sz="1500"/>
          </a:p>
        </p:txBody>
      </p:sp>
      <p:graphicFrame>
        <p:nvGraphicFramePr>
          <p:cNvPr id="66" name="Google Shape;66;p15"/>
          <p:cNvGraphicFramePr/>
          <p:nvPr/>
        </p:nvGraphicFramePr>
        <p:xfrm>
          <a:off x="311700" y="1086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{8E2208A6-C59D-4DE5-8DAC-D0369C0492C3}</a:tableStyleId>
              </a:tblPr>
              <a:tblGrid>
                <a:gridCol w="2515800"/>
                <a:gridCol w="2438200"/>
                <a:gridCol w="1525000"/>
                <a:gridCol w="1966850"/>
              </a:tblGrid>
              <a:tr h="14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Key Points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Research Gaps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Dataset Used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Model/ Architecture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</a:t>
                      </a:r>
                      <a:r>
                        <a:rPr lang="en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Focuses on class imbalance for online continual point cloud classification.</a:t>
                      </a:r>
                      <a:endParaRPr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 </a:t>
                      </a:r>
                      <a:r>
                        <a:rPr lang="en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Solutions: Distance-Based Sampling (DBS, feature-space oversampling), Balanced Analytical Learning (BAL, dynamic weighting in analytic classifier layer).</a:t>
                      </a:r>
                      <a:endParaRPr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 Feature fusion unifies vehicle/infrastructure streams for V2X use-cases.</a:t>
                      </a:r>
                      <a:endParaRPr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 Outperforms previous CL and offline methods, achieving higher mean class accuracy with lower parameter cost.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 Existing continual learning replay/regularization methods for images do not address point cloud imbalance.</a:t>
                      </a:r>
                      <a:endParaRPr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 Manual parameter tuning needed for BAL weighting; performance unstable if weights are not properly set.</a:t>
                      </a:r>
                      <a:endParaRPr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 Focused on classification, not segmentation.</a:t>
                      </a:r>
                      <a:endParaRPr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 Evaluated on single continuous data stream (more real-world diversity to be tested).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V2X-Seq (autonomous driving, multi-sensor), ModelNet40 (pre-training)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 PointNet backbone for feature extraction</a:t>
                      </a:r>
                      <a:endParaRPr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 MLP classifier (updates only classifier in CL)</a:t>
                      </a:r>
                      <a:endParaRPr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 DBS: oversamples minority features</a:t>
                      </a:r>
                      <a:endParaRPr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 BAL: dynamic weights in analytic (least-squares) classifier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317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Fairness-Aware Boosting model for Imbalanced 3D Point Cloud Segmentation in Autonomous Driving(2025/ IEEE CVPR)</a:t>
            </a:r>
            <a:endParaRPr sz="1500"/>
          </a:p>
        </p:txBody>
      </p:sp>
      <p:graphicFrame>
        <p:nvGraphicFramePr>
          <p:cNvPr id="72" name="Google Shape;72;p16"/>
          <p:cNvGraphicFramePr/>
          <p:nvPr/>
        </p:nvGraphicFramePr>
        <p:xfrm>
          <a:off x="268200" y="1086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{8E2208A6-C59D-4DE5-8DAC-D0369C0492C3}</a:tableStyleId>
              </a:tblPr>
              <a:tblGrid>
                <a:gridCol w="2559300"/>
                <a:gridCol w="2438200"/>
                <a:gridCol w="1525000"/>
                <a:gridCol w="1966850"/>
              </a:tblGrid>
              <a:tr h="14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Key Points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Research Gaps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Dataset Used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Model/ Architecture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 Adds AdaBoost ensemble to RandLA-Net segmentation, focusing on misclassified/rare classes.</a:t>
                      </a:r>
                      <a:endParaRPr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 Weighted IoU (wIoU) metric for fairer evaluation.</a:t>
                      </a:r>
                      <a:endParaRPr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 Large improvements for minority classes like "road markings" and "fence" on real-world LIDAR datasets.</a:t>
                      </a:r>
                      <a:endParaRPr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 Demonstrates generalizability and robust fairness improvements with low extra inference cost.</a:t>
                      </a:r>
                      <a:endParaRPr b="1"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 Still some confusion among classes with similar physical attributes.</a:t>
                      </a:r>
                      <a:endParaRPr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 Future need to optimize ensemble scheme and validate on more datasets.</a:t>
                      </a:r>
                      <a:endParaRPr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 Does not solve all "class similarity" failure cases.</a:t>
                      </a:r>
                      <a:endParaRPr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Toronto-3D, Semantic3D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 RandLA-Net backbone</a:t>
                      </a:r>
                      <a:endParaRPr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 AdaBoost ensemble for output correction</a:t>
                      </a:r>
                      <a:endParaRPr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 Weighted IoU metric for evaluation/fairness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90350" y="317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Subclassified Loss: Rethinking Data Imbalance From Subclass Perspective for Semantic Segmentation </a:t>
            </a:r>
            <a:r>
              <a:rPr lang="en" sz="1500"/>
              <a:t>(2024/ IEEE TIV)</a:t>
            </a:r>
            <a:endParaRPr sz="1500"/>
          </a:p>
        </p:txBody>
      </p:sp>
      <p:graphicFrame>
        <p:nvGraphicFramePr>
          <p:cNvPr id="78" name="Google Shape;78;p17"/>
          <p:cNvGraphicFramePr/>
          <p:nvPr/>
        </p:nvGraphicFramePr>
        <p:xfrm>
          <a:off x="311700" y="1086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{8E2208A6-C59D-4DE5-8DAC-D0369C0492C3}</a:tableStyleId>
              </a:tblPr>
              <a:tblGrid>
                <a:gridCol w="2515800"/>
                <a:gridCol w="2438200"/>
                <a:gridCol w="1525000"/>
                <a:gridCol w="1966850"/>
              </a:tblGrid>
              <a:tr h="14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Key Points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Research Gaps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Dataset Used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Model/ Architecture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 Proposes a subclassified loss function for semantic segmentation to address intra-class imbalance by identifying and weighting subclasses within each class, rather than treating each class or pixel equally.</a:t>
                      </a:r>
                      <a:endParaRPr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 Compatible with various semantic segmentation models; shown to improve mIoU, especially for minority/complex subclasses.</a:t>
                      </a:r>
                      <a:endParaRPr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 Pipeline calculates pixel similarity, creates virtual subclasses, and reweights loss during training.</a:t>
                      </a:r>
                      <a:endParaRPr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 Demonstrates major gains for intra-diverse classes and less for those with boundary overlap.</a:t>
                      </a:r>
                      <a:endParaRPr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 Compatible with various semantic segmentation models; shown to improve mIoU, especially for minority/complex subclasses.</a:t>
                      </a:r>
                      <a:endParaRPr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 Pipeline calculates pixel similarity, creates virtual subclasses, and reweights loss during training.</a:t>
                      </a:r>
                      <a:endParaRPr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 Demonstrates major gains for intra-diverse classes and less for those with boundary overlap.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SemanticKITTI (LiDAR point clouds), Cityscapes (street images)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RangeNet, KPRNet (LiDAR), PointRend, STDC, SegFormer (image/transformer). Loss compatible with any segmentation backbone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317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3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highlight>
                  <a:srgbClr val="FFFFFF"/>
                </a:highlight>
              </a:rPr>
              <a:t>Effective Class-Imbalance Learning Based on SMOTE and Convolutional Neural Networks</a:t>
            </a:r>
            <a:endParaRPr sz="135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/>
              <a:t>(2023/Applied Sciences )</a:t>
            </a:r>
            <a:endParaRPr sz="1350"/>
          </a:p>
        </p:txBody>
      </p:sp>
      <p:graphicFrame>
        <p:nvGraphicFramePr>
          <p:cNvPr id="84" name="Google Shape;84;p18"/>
          <p:cNvGraphicFramePr/>
          <p:nvPr/>
        </p:nvGraphicFramePr>
        <p:xfrm>
          <a:off x="311700" y="1086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{8E2208A6-C59D-4DE5-8DAC-D0369C0492C3}</a:tableStyleId>
              </a:tblPr>
              <a:tblGrid>
                <a:gridCol w="2515800"/>
                <a:gridCol w="2438200"/>
                <a:gridCol w="1525000"/>
                <a:gridCol w="1966850"/>
              </a:tblGrid>
              <a:tr h="14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Key Points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Research Gaps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Dataset Used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Model/ Architecture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4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 Proposes mixed methodology: combines SMOTE for oversampling with normalization and CNN for robust learning on binary imbalanced datasets.</a:t>
                      </a:r>
                      <a:endParaRPr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 Benchmarks various resampling (SMOTE, TL, OSS, NearMiss) techniques mixed with DNN/CNN, showing that SMOTE-NORM-CNN consistently delivers highest accuracy, F1, recall.</a:t>
                      </a:r>
                      <a:endParaRPr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 Thorough evaluation on 24 datasets with extensive metrics.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r>
                        <a:rPr lang="en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Training costs and times are higher for CNN models compared to traditional ML.</a:t>
                      </a:r>
                      <a:endParaRPr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 SMOTE may add noise or distort boundaries; long training time and no multi-class evaluation (yet).</a:t>
                      </a:r>
                      <a:endParaRPr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 Generalization to multi-class or time-series needs future study.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KEEL (20+ imbalanced datasets), Breast Cancer (KDD Cup), Z-Alizadeh Sani (medical)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CNN (2× Conv + 2× Dense, ReLU, Focal Loss), DNN, with repeated evaluation of mixed resampling strategies.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311700" y="317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Addressing the class imbalance problem in network intrusion detection systems using data resampling and deep learning</a:t>
            </a:r>
            <a:r>
              <a:rPr lang="en" sz="1500"/>
              <a:t>(2023/The Journal of Supercomputing)</a:t>
            </a:r>
            <a:endParaRPr sz="1500"/>
          </a:p>
        </p:txBody>
      </p:sp>
      <p:graphicFrame>
        <p:nvGraphicFramePr>
          <p:cNvPr id="90" name="Google Shape;90;p19"/>
          <p:cNvGraphicFramePr/>
          <p:nvPr/>
        </p:nvGraphicFramePr>
        <p:xfrm>
          <a:off x="311700" y="1086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{8E2208A6-C59D-4DE5-8DAC-D0369C0492C3}</a:tableStyleId>
              </a:tblPr>
              <a:tblGrid>
                <a:gridCol w="2515800"/>
                <a:gridCol w="2438200"/>
                <a:gridCol w="1525000"/>
                <a:gridCol w="1966850"/>
              </a:tblGrid>
              <a:tr h="14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Key Points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Research Gaps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Dataset Used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Model/ Architecture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4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 Introduces combined oversampling (ADASYN) and undersampling (Tomek Links) for preprocessing; tested with deep learning architectures on highly imbalanced intrusion detection data.</a:t>
                      </a:r>
                      <a:endParaRPr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 Shows significant improvements in minority class detection and overall accuracy for both binary and multi-class cases.</a:t>
                      </a:r>
                      <a:endParaRPr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 Proposes a two-stage IDS (detect attack, then classify type) for enhanced minority class focus.</a:t>
                      </a:r>
                      <a:endParaRPr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 Some risk of overfitting due to synthetic data; model complexity sometimes leads to overfitting in DNNs.</a:t>
                      </a:r>
                      <a:endParaRPr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 Results depend on proper preprocessing; dropping normal traffic could bias real-world scenarios.</a:t>
                      </a:r>
                      <a:endParaRPr sz="10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 Only tested on NSL-KDD; applicability to more diverse datasets remains future work.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NSL-KDD (benchmark cybersecurity)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MLP, DNN, CNN, CNN-BLSTM; hybrid preprocessing with ADASYN+TomekLinks; comparative results for each architecture.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11700" y="317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/>
              <a:t>Boosting Minority Class Prediction on Imbalanced Point Cloud Data(2020</a:t>
            </a:r>
            <a:r>
              <a:rPr lang="en" sz="1350"/>
              <a:t>/MDPI)</a:t>
            </a:r>
            <a:endParaRPr sz="1350"/>
          </a:p>
        </p:txBody>
      </p:sp>
      <p:graphicFrame>
        <p:nvGraphicFramePr>
          <p:cNvPr id="96" name="Google Shape;96;p20"/>
          <p:cNvGraphicFramePr/>
          <p:nvPr/>
        </p:nvGraphicFramePr>
        <p:xfrm>
          <a:off x="311700" y="1086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{8E2208A6-C59D-4DE5-8DAC-D0369C0492C3}</a:tableStyleId>
              </a:tblPr>
              <a:tblGrid>
                <a:gridCol w="2515800"/>
                <a:gridCol w="2438200"/>
                <a:gridCol w="1525000"/>
                <a:gridCol w="1966850"/>
              </a:tblGrid>
              <a:tr h="14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Key Points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Research Gaps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Dataset Used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Model/ Architecture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40875"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It proposes a two-stage</a:t>
                      </a:r>
                      <a:r>
                        <a:rPr b="1" lang="en" sz="105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" sz="1050">
                          <a:solidFill>
                            <a:schemeClr val="dk1"/>
                          </a:solidFill>
                        </a:rPr>
                        <a:t>training framework combining Hybrid-Sampling and a Balanced Focus Loss Function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-"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Hybrid-Sampling balances the dataset by oversampling minority classes and undersampling majority ones.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-"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The paper tackles the class imbalance problem in 3D point cloud segmentation.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-"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The method improves accuracy on PointNet from 91% to 98% (XYZRGB) and from 86% to 93% (XYZ), achieving a 6–7% performance gain.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Deep learning models like PointNet perform poorly when trained on imbalanced datasets where small objects have fewer data points.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-"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No integrated solution existed to handle imbalance both at data and algorithm levels.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-"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Existing methods have limits oversampling risks overfitting, undersampling removes important data, and weighted losses require manual tuning and aren’t adaptive.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/>
                        <a:t>Custom Point Cloud Dataset (captured using Orbbec Astra S RGB-D camera, 480×640 resolution – six tabletop objects including pipes, wrenches, and colored cubes; highly imbalanced class distribution).</a:t>
                      </a:r>
                      <a:endParaRPr sz="10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PointNet; baseline deep neural network for 3D point cloud segmentation; enhanced using a two-stage framework with hybrid-sampling and balanced focus loss; includes feature extraction, feature aggregation, and point-wise classification layers for improved performance on imbalanced datasets.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311700" y="317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/>
              <a:t>Subspace Prototype Guidance for Mitigating Class Imbalance in Point Cloud Semantic Segmentation(2024/Springer)</a:t>
            </a:r>
            <a:endParaRPr sz="1350"/>
          </a:p>
        </p:txBody>
      </p:sp>
      <p:graphicFrame>
        <p:nvGraphicFramePr>
          <p:cNvPr id="102" name="Google Shape;102;p21"/>
          <p:cNvGraphicFramePr/>
          <p:nvPr/>
        </p:nvGraphicFramePr>
        <p:xfrm>
          <a:off x="311700" y="1086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{8E2208A6-C59D-4DE5-8DAC-D0369C0492C3}</a:tableStyleId>
              </a:tblPr>
              <a:tblGrid>
                <a:gridCol w="2515800"/>
                <a:gridCol w="2438200"/>
                <a:gridCol w="1525000"/>
                <a:gridCol w="1966850"/>
              </a:tblGrid>
              <a:tr h="14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Key Points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Research Gaps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Dataset Used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Model/ Architecture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40875">
                <a:tc>
                  <a:txBody>
                    <a:bodyPr/>
                    <a:lstStyle/>
                    <a:p>
                      <a:pPr indent="-295275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050"/>
                        <a:buChar char="-"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Proposes Subspace Prototype Guidance (SPG) to mitigate class imbalance in point cloud semantic segmentation.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  <a:p>
                      <a:pPr indent="-295275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050"/>
                        <a:buChar char="-"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Introduces a dual-branch framework with main and auxiliary networks for prototype-based feature guidance.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  <a:p>
                      <a:pPr indent="-295275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050"/>
                        <a:buChar char="-"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Employs category prototypes and separate feature subspaces to enhance minority-class discrimination.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  <a:p>
                      <a:pPr indent="-295275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050"/>
                        <a:buChar char="-"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Achieves state-of-the-art results on large-scale 3D benchmarks (S3DIS, ScanNet v2, ScanNet200, Toronto-3D).</a:t>
                      </a:r>
                      <a:endParaRPr sz="10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295275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050"/>
                        <a:buChar char="-"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Existing methods fail to address feature dominance of majority classes in 3D segmentation.</a:t>
                      </a:r>
                      <a:br>
                        <a:rPr lang="en" sz="1050">
                          <a:solidFill>
                            <a:schemeClr val="dk1"/>
                          </a:solidFill>
                        </a:rPr>
                      </a:br>
                      <a:r>
                        <a:rPr lang="en" sz="1050">
                          <a:solidFill>
                            <a:schemeClr val="dk1"/>
                          </a:solidFill>
                        </a:rPr>
                        <a:t>Oversampling and weighted loss methods distort data distribution and yield limited improvement.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  <a:p>
                      <a:pPr indent="-295275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050"/>
                        <a:buChar char="-"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Lack of category-level prototype utilization for minority-class feature enhancement.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  <a:p>
                      <a:pPr indent="-295275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050"/>
                        <a:buChar char="-"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Need for a framework that improves balance without increasing inference complexity.</a:t>
                      </a:r>
                      <a:endParaRPr sz="10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/>
                        <a:t>S3DIS, ScanNet v2, ScanNet200, Toronto-3D (indoor and outdoor large-scale 3D point cloud benchmarks; includes additional real-world LiDAR+RGB dataset for validation).</a:t>
                      </a:r>
                      <a:endParaRPr sz="10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PointNet++, PTv1, PTv2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311700" y="317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1F1F1F"/>
                </a:solidFill>
              </a:rPr>
              <a:t>Class-imbalanced semi-supervised learning for large-scale point cloud semantic segmentation via decoupling optimization</a:t>
            </a:r>
            <a:r>
              <a:rPr lang="en" sz="1350"/>
              <a:t>(2024/Science Direct)</a:t>
            </a:r>
            <a:endParaRPr sz="1350"/>
          </a:p>
        </p:txBody>
      </p:sp>
      <p:graphicFrame>
        <p:nvGraphicFramePr>
          <p:cNvPr id="108" name="Google Shape;108;p22"/>
          <p:cNvGraphicFramePr/>
          <p:nvPr/>
        </p:nvGraphicFramePr>
        <p:xfrm>
          <a:off x="311700" y="1086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{8E2208A6-C59D-4DE5-8DAC-D0369C0492C3}</a:tableStyleId>
              </a:tblPr>
              <a:tblGrid>
                <a:gridCol w="2515800"/>
                <a:gridCol w="2438200"/>
                <a:gridCol w="1525000"/>
                <a:gridCol w="1966850"/>
              </a:tblGrid>
              <a:tr h="14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Key Points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Research Gaps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Dataset Used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Model/ Architecture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40875">
                <a:tc>
                  <a:txBody>
                    <a:bodyPr/>
                    <a:lstStyle/>
                    <a:p>
                      <a:pPr indent="-295275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050"/>
                        <a:buChar char="-"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Proposed a Decoupling Optimization Framework separating backbone and classifier training to reduce bias.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  <a:p>
                      <a:pPr indent="-295275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050"/>
                        <a:buChar char="-"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Introduced Two-Round Pseudo-Label Generation for balanced learning across head and tail classes.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  <a:p>
                      <a:pPr indent="-295275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050"/>
                        <a:buChar char="-"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Designed a Multi-Class Imbalanced Focus Loss (MI-FL) to adaptively emphasize minority classes.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  <a:p>
                      <a:pPr indent="-295275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050"/>
                        <a:buChar char="-"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Achieved state-of-the-art performance on large 3D point cloud datasets with minimal annotations.</a:t>
                      </a:r>
                      <a:endParaRPr sz="10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295275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050"/>
                        <a:buChar char="-"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Existing SSL methods fail to address class imbalance and long-tail distributions in 3D point clouds.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  <a:p>
                      <a:pPr indent="-295275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050"/>
                        <a:buChar char="-"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Joint optimization of backbone and classifier causes biased decision boundaries.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  <a:p>
                      <a:pPr indent="-295275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050"/>
                        <a:buChar char="-"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Prior pseudo-labeling methods mainly favor head classes, ignoring rare categories.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  <a:p>
                      <a:pPr indent="-295275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050"/>
                        <a:buChar char="-"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Lack of dynamic, adaptive loss functions for real-world imbalanced 3D segmentation.</a:t>
                      </a:r>
                      <a:endParaRPr sz="10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/>
                        <a:t>S3DIS, ScanNet-V2, Semantic3D, Semantic KITTI</a:t>
                      </a:r>
                      <a:endParaRPr sz="10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RangeNet++, KPRNet, PointRend, STDC, SegFormer; integrated with the proposed Subclassified Loss (SL) function; tested on both LiDAR-based (RangeNet++, KPRNet) and image-based (PointRend, STDC, SegFormer) segmentation frameworks for comparative performance evaluation.</a:t>
                      </a:r>
                      <a:endParaRPr sz="105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</a:t>
            </a:r>
            <a:endParaRPr/>
          </a:p>
        </p:txBody>
      </p:sp>
      <p:graphicFrame>
        <p:nvGraphicFramePr>
          <p:cNvPr id="114" name="Google Shape;114;p23"/>
          <p:cNvGraphicFramePr/>
          <p:nvPr/>
        </p:nvGraphicFramePr>
        <p:xfrm>
          <a:off x="952500" y="1047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{8E2208A6-C59D-4DE5-8DAC-D0369C0492C3}</a:tableStyleId>
              </a:tblPr>
              <a:tblGrid>
                <a:gridCol w="1564825"/>
                <a:gridCol w="2793600"/>
                <a:gridCol w="2880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Metrics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Best Method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Why?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SMOTE-NORM-CNN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Highest accuracy on 24 datasets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SMOTE-NORM-CNN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Comparable; sometimes best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 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SMOTE-NORM-CNN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Highest F1 consistently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Log(Loss)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SMOTE-NORM-CNN(focal/ cross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entropy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loss)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Evaluates with log loss variants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CD Loss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Subclassified Loss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Improves class/boundary metrics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HD Loss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Subclassified Loss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Improved   boundary segmentation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P2F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Subclassified Loss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best class-boundary adaptive losses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/>
          <p:nvPr>
            <p:ph type="title"/>
          </p:nvPr>
        </p:nvSpPr>
        <p:spPr>
          <a:xfrm>
            <a:off x="274325" y="351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/>
              <a:t>title</a:t>
            </a:r>
            <a:endParaRPr sz="1350"/>
          </a:p>
        </p:txBody>
      </p:sp>
      <p:graphicFrame>
        <p:nvGraphicFramePr>
          <p:cNvPr id="120" name="Google Shape;120;p24"/>
          <p:cNvGraphicFramePr/>
          <p:nvPr/>
        </p:nvGraphicFramePr>
        <p:xfrm>
          <a:off x="311700" y="1086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{8E2208A6-C59D-4DE5-8DAC-D0369C0492C3}</a:tableStyleId>
              </a:tblPr>
              <a:tblGrid>
                <a:gridCol w="2515800"/>
                <a:gridCol w="2438200"/>
                <a:gridCol w="1525000"/>
                <a:gridCol w="1966850"/>
              </a:tblGrid>
              <a:tr h="14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Key Points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Research Gaps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Dataset Used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Model/ Architecture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4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