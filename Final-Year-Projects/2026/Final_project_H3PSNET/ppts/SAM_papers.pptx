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1450F72-3F16-4385-A34A-3FE80AA33FB9}">
  <a:tblStyle styleId="{E1450F72-3F16-4385-A34A-3FE80AA33FB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acab3ced6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acab3ced6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cab3ced60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acab3ced60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acab3ced60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acab3ced60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acab3ced60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acab3ced60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acab3ced60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acab3ced60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cab3ced60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acab3ced60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 papers - Review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4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0968"/>
              <a:buFont typeface="Arial"/>
              <a:buNone/>
            </a:pPr>
            <a:r>
              <a:rPr lang="en" sz="1550"/>
              <a:t>POINT-SAM: PROMPTABLE 3D SEGMENTATION MODEL FOR POINT CLOUDS(arXiv/2024)</a:t>
            </a:r>
            <a:endParaRPr sz="15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60" name="Google Shape;60;p14"/>
          <p:cNvGraphicFramePr/>
          <p:nvPr/>
        </p:nvGraphicFramePr>
        <p:xfrm>
          <a:off x="952500" y="2190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{E1450F72-3F16-4385-A34A-3FE80AA33FB9}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Key Points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Research Gaps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Model/Architecture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Dataset Used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4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/>
              <a:t>SAM4D: Segment Anything in Camera and LiDAR Streams</a:t>
            </a:r>
            <a:r>
              <a:rPr lang="en" sz="1550"/>
              <a:t>(arXiv/2025)</a:t>
            </a:r>
            <a:endParaRPr sz="15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66" name="Google Shape;66;p15"/>
          <p:cNvGraphicFramePr/>
          <p:nvPr/>
        </p:nvGraphicFramePr>
        <p:xfrm>
          <a:off x="952500" y="2190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{E1450F72-3F16-4385-A34A-3FE80AA33FB9}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Key Points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Research Gaps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Model/Architecture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Dataset Used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4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/>
              <a:t>Integrating SAM Supervision for 3D Weakly Supervised Point Cloud Segmentation</a:t>
            </a:r>
            <a:r>
              <a:rPr lang="en" sz="1550"/>
              <a:t>(arXiv/2025)</a:t>
            </a:r>
            <a:endParaRPr sz="15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72" name="Google Shape;72;p16"/>
          <p:cNvGraphicFramePr/>
          <p:nvPr/>
        </p:nvGraphicFramePr>
        <p:xfrm>
          <a:off x="952500" y="2190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{E1450F72-3F16-4385-A34A-3FE80AA33FB9}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Key Points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Research Gaps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Model/Architecture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Dataset Used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11700" y="445025"/>
            <a:ext cx="8520600" cy="54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/>
              <a:t>PointSAM: Pointly-Supervised Segment Anything Model for Remote Sensing Images</a:t>
            </a:r>
            <a:r>
              <a:rPr lang="en" sz="1550"/>
              <a:t>(IEEE Transactions/2025)</a:t>
            </a:r>
            <a:endParaRPr sz="15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78" name="Google Shape;78;p17"/>
          <p:cNvGraphicFramePr/>
          <p:nvPr/>
        </p:nvGraphicFramePr>
        <p:xfrm>
          <a:off x="952500" y="2190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{E1450F72-3F16-4385-A34A-3FE80AA33FB9}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Key Points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Research Gaps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Model/Architecture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Dataset Used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311700" y="445025"/>
            <a:ext cx="8520600" cy="4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222222"/>
                </a:solidFill>
                <a:highlight>
                  <a:srgbClr val="FFFFFF"/>
                </a:highlight>
              </a:rPr>
              <a:t>When 3d bounding-box meets sam: Point cloud instance segmentation with weak-and-noisy supervision(</a:t>
            </a:r>
            <a:r>
              <a:rPr lang="en" sz="1400"/>
              <a:t>IEEE CVF/2024)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222222"/>
              </a:solidFill>
              <a:highlight>
                <a:srgbClr val="FFFFFF"/>
              </a:highlight>
            </a:endParaRPr>
          </a:p>
        </p:txBody>
      </p:sp>
      <p:graphicFrame>
        <p:nvGraphicFramePr>
          <p:cNvPr id="84" name="Google Shape;84;p18"/>
          <p:cNvGraphicFramePr/>
          <p:nvPr/>
        </p:nvGraphicFramePr>
        <p:xfrm>
          <a:off x="952500" y="2190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{E1450F72-3F16-4385-A34A-3FE80AA33FB9}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Key Points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Research Gaps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Model/Architecture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Dataset Used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>
            <p:ph type="title"/>
          </p:nvPr>
        </p:nvSpPr>
        <p:spPr>
          <a:xfrm>
            <a:off x="311700" y="445025"/>
            <a:ext cx="8520600" cy="7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3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lang="en" sz="1400">
                <a:highlight>
                  <a:srgbClr val="FFFFFF"/>
                </a:highlight>
              </a:rPr>
              <a:t>SAMNet++: A Segment Anything Model for Supervised 3D Point Cloud Semantic Segmentation</a:t>
            </a:r>
            <a:r>
              <a:rPr lang="en" sz="1400">
                <a:solidFill>
                  <a:srgbClr val="222222"/>
                </a:solidFill>
                <a:highlight>
                  <a:srgbClr val="FFFFFF"/>
                </a:highlight>
              </a:rPr>
              <a:t>(</a:t>
            </a:r>
            <a:r>
              <a:rPr lang="en" sz="1400"/>
              <a:t>MDPI</a:t>
            </a:r>
            <a:r>
              <a:rPr lang="en" sz="1400"/>
              <a:t>/2025)</a:t>
            </a:r>
            <a:endParaRPr sz="1400"/>
          </a:p>
          <a:p>
            <a:pPr indent="0" lvl="0" marL="0" rtl="0" algn="l">
              <a:spcBef>
                <a:spcPts val="17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222222"/>
              </a:solidFill>
              <a:highlight>
                <a:srgbClr val="FFFFFF"/>
              </a:highlight>
            </a:endParaRPr>
          </a:p>
        </p:txBody>
      </p:sp>
      <p:graphicFrame>
        <p:nvGraphicFramePr>
          <p:cNvPr id="90" name="Google Shape;90;p19"/>
          <p:cNvGraphicFramePr/>
          <p:nvPr/>
        </p:nvGraphicFramePr>
        <p:xfrm>
          <a:off x="952500" y="2190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{E1450F72-3F16-4385-A34A-3FE80AA33FB9}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Key Points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Research Gaps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Model/Architecture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Dataset Used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