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344c55b8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344c55b8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μ-Relief selects an instance xi randomly where x</a:t>
            </a:r>
            <a:r>
              <a:rPr baseline="-25000" lang="en">
                <a:solidFill>
                  <a:schemeClr val="dk1"/>
                </a:solidFill>
              </a:rPr>
              <a:t>i</a:t>
            </a:r>
            <a:r>
              <a:rPr lang="en">
                <a:solidFill>
                  <a:schemeClr val="dk1"/>
                </a:solidFill>
              </a:rPr>
              <a:t> ∈ X. Hit and Miss sets are obtained according to y</a:t>
            </a:r>
            <a:r>
              <a:rPr baseline="-25000" lang="en">
                <a:solidFill>
                  <a:schemeClr val="dk1"/>
                </a:solidFill>
              </a:rPr>
              <a:t>i </a:t>
            </a:r>
            <a:r>
              <a:rPr lang="en">
                <a:solidFill>
                  <a:schemeClr val="dk1"/>
                </a:solidFill>
              </a:rPr>
              <a:t>. In the algorithm, the set of instances of the same target class as x</a:t>
            </a:r>
            <a:r>
              <a:rPr baseline="-25000" lang="en">
                <a:solidFill>
                  <a:schemeClr val="dk1"/>
                </a:solidFill>
              </a:rPr>
              <a:t>i</a:t>
            </a:r>
            <a:r>
              <a:rPr lang="en">
                <a:solidFill>
                  <a:schemeClr val="dk1"/>
                </a:solidFill>
              </a:rPr>
              <a:t> is known as Hit (H), where H ⊆ X. A set of instances that belong to any class except y</a:t>
            </a:r>
            <a:r>
              <a:rPr baseline="-25000" lang="en">
                <a:solidFill>
                  <a:schemeClr val="dk1"/>
                </a:solidFill>
              </a:rPr>
              <a:t>i</a:t>
            </a:r>
            <a:r>
              <a:rPr lang="en">
                <a:solidFill>
                  <a:schemeClr val="dk1"/>
                </a:solidFill>
              </a:rPr>
              <a:t> , is known as Miss denoted by Mj where j ∈ Y and j ≠ y</a:t>
            </a:r>
            <a:r>
              <a:rPr baseline="-25000" lang="en">
                <a:solidFill>
                  <a:schemeClr val="dk1"/>
                </a:solidFill>
              </a:rPr>
              <a:t>i</a:t>
            </a:r>
            <a:r>
              <a:rPr lang="en">
                <a:solidFill>
                  <a:schemeClr val="dk1"/>
                </a:solidFill>
              </a:rPr>
              <a:t> 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344c55b8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344c55b8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344c55b82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b344c55b8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344c55b82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b344c55b82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344c55b82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344c55b82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344c55b82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344c55b82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344c55b82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b344c55b82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344c55b82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b344c55b82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rive.google.com/file/d/1NHzAXSr-5rjSSwfngkrWRrmkN6DfMLNG/view?usp=drive_link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Algorithm: Inverted </a:t>
            </a:r>
            <a:r>
              <a:rPr lang="en"/>
              <a:t>μ-Relief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Prerequisite: μ-Relief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Prerequisites: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Dataset X= {x</a:t>
            </a:r>
            <a:r>
              <a:rPr baseline="-25000" lang="en" sz="1100">
                <a:solidFill>
                  <a:schemeClr val="dk1"/>
                </a:solidFill>
              </a:rPr>
              <a:t>1</a:t>
            </a:r>
            <a:r>
              <a:rPr lang="en" sz="1100">
                <a:solidFill>
                  <a:schemeClr val="dk1"/>
                </a:solidFill>
              </a:rPr>
              <a:t>,x</a:t>
            </a:r>
            <a:r>
              <a:rPr baseline="-25000" lang="en" sz="1100">
                <a:solidFill>
                  <a:schemeClr val="dk1"/>
                </a:solidFill>
              </a:rPr>
              <a:t>2</a:t>
            </a:r>
            <a:r>
              <a:rPr lang="en" sz="1100">
                <a:solidFill>
                  <a:schemeClr val="dk1"/>
                </a:solidFill>
              </a:rPr>
              <a:t>, … x</a:t>
            </a:r>
            <a:r>
              <a:rPr baseline="-25000" lang="en" sz="1100">
                <a:solidFill>
                  <a:schemeClr val="dk1"/>
                </a:solidFill>
              </a:rPr>
              <a:t>m</a:t>
            </a:r>
            <a:r>
              <a:rPr lang="en" sz="1100">
                <a:solidFill>
                  <a:schemeClr val="dk1"/>
                </a:solidFill>
              </a:rPr>
              <a:t>}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“m” data instances in R</a:t>
            </a:r>
            <a:r>
              <a:rPr baseline="30000" lang="en" sz="1100">
                <a:solidFill>
                  <a:schemeClr val="dk1"/>
                </a:solidFill>
              </a:rPr>
              <a:t>N  </a:t>
            </a:r>
            <a:r>
              <a:rPr lang="en" sz="1100">
                <a:solidFill>
                  <a:schemeClr val="dk1"/>
                </a:solidFill>
              </a:rPr>
              <a:t> (N feature instances in the dataset)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Every point can be represented as: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 x</a:t>
            </a:r>
            <a:r>
              <a:rPr baseline="-25000" lang="en" sz="1100">
                <a:solidFill>
                  <a:schemeClr val="dk1"/>
                </a:solidFill>
              </a:rPr>
              <a:t>i</a:t>
            </a:r>
            <a:r>
              <a:rPr lang="en" sz="1100">
                <a:solidFill>
                  <a:schemeClr val="dk1"/>
                </a:solidFill>
              </a:rPr>
              <a:t> = &lt; F</a:t>
            </a:r>
            <a:r>
              <a:rPr baseline="-25000" lang="en" sz="1100">
                <a:solidFill>
                  <a:schemeClr val="dk1"/>
                </a:solidFill>
              </a:rPr>
              <a:t>1i</a:t>
            </a:r>
            <a:r>
              <a:rPr lang="en" sz="1100">
                <a:solidFill>
                  <a:schemeClr val="dk1"/>
                </a:solidFill>
              </a:rPr>
              <a:t> F</a:t>
            </a:r>
            <a:r>
              <a:rPr baseline="-25000" lang="en" sz="1100">
                <a:solidFill>
                  <a:schemeClr val="dk1"/>
                </a:solidFill>
              </a:rPr>
              <a:t>2i</a:t>
            </a:r>
            <a:r>
              <a:rPr lang="en" sz="1100">
                <a:solidFill>
                  <a:schemeClr val="dk1"/>
                </a:solidFill>
              </a:rPr>
              <a:t> ........ F</a:t>
            </a:r>
            <a:r>
              <a:rPr baseline="-25000" lang="en" sz="1100">
                <a:solidFill>
                  <a:schemeClr val="dk1"/>
                </a:solidFill>
              </a:rPr>
              <a:t>Ni</a:t>
            </a:r>
            <a:r>
              <a:rPr lang="en" sz="1100">
                <a:solidFill>
                  <a:schemeClr val="dk1"/>
                </a:solidFill>
              </a:rPr>
              <a:t> &gt;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Where, F</a:t>
            </a:r>
            <a:r>
              <a:rPr baseline="-25000" lang="en" sz="1100">
                <a:solidFill>
                  <a:schemeClr val="dk1"/>
                </a:solidFill>
              </a:rPr>
              <a:t>pi </a:t>
            </a:r>
            <a:r>
              <a:rPr lang="en" sz="1100">
                <a:solidFill>
                  <a:schemeClr val="dk1"/>
                </a:solidFill>
              </a:rPr>
              <a:t>represents the p</a:t>
            </a:r>
            <a:r>
              <a:rPr baseline="30000" lang="en" sz="1100">
                <a:solidFill>
                  <a:schemeClr val="dk1"/>
                </a:solidFill>
              </a:rPr>
              <a:t>th</a:t>
            </a:r>
            <a:r>
              <a:rPr lang="en" sz="1100">
                <a:solidFill>
                  <a:schemeClr val="dk1"/>
                </a:solidFill>
              </a:rPr>
              <a:t> feature of point instance i.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Corresponding class vector for dataset X is given as: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Y = &lt; y</a:t>
            </a:r>
            <a:r>
              <a:rPr baseline="-25000" lang="en" sz="1100">
                <a:solidFill>
                  <a:schemeClr val="dk1"/>
                </a:solidFill>
              </a:rPr>
              <a:t>1</a:t>
            </a:r>
            <a:r>
              <a:rPr lang="en" sz="1100">
                <a:solidFill>
                  <a:schemeClr val="dk1"/>
                </a:solidFill>
              </a:rPr>
              <a:t> y</a:t>
            </a:r>
            <a:r>
              <a:rPr baseline="-25000" lang="en" sz="1100">
                <a:solidFill>
                  <a:schemeClr val="dk1"/>
                </a:solidFill>
              </a:rPr>
              <a:t>2</a:t>
            </a:r>
            <a:r>
              <a:rPr lang="en" sz="1100">
                <a:solidFill>
                  <a:schemeClr val="dk1"/>
                </a:solidFill>
              </a:rPr>
              <a:t>......... y</a:t>
            </a:r>
            <a:r>
              <a:rPr baseline="-25000" lang="en" sz="1100">
                <a:solidFill>
                  <a:schemeClr val="dk1"/>
                </a:solidFill>
              </a:rPr>
              <a:t>m</a:t>
            </a:r>
            <a:r>
              <a:rPr lang="en" sz="1100">
                <a:solidFill>
                  <a:schemeClr val="dk1"/>
                </a:solidFill>
              </a:rPr>
              <a:t> &gt;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k is the number of neighbors selected per class.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Distance Measurements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300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Here, F</a:t>
            </a:r>
            <a:r>
              <a:rPr baseline="-25000" lang="en" sz="1100">
                <a:solidFill>
                  <a:schemeClr val="dk1"/>
                </a:solidFill>
              </a:rPr>
              <a:t>qi</a:t>
            </a:r>
            <a:r>
              <a:rPr lang="en" sz="1100">
                <a:solidFill>
                  <a:schemeClr val="dk1"/>
                </a:solidFill>
              </a:rPr>
              <a:t> and F</a:t>
            </a:r>
            <a:r>
              <a:rPr baseline="-25000" lang="en" sz="1100">
                <a:solidFill>
                  <a:schemeClr val="dk1"/>
                </a:solidFill>
              </a:rPr>
              <a:t>qr</a:t>
            </a:r>
            <a:r>
              <a:rPr lang="en" sz="1100">
                <a:solidFill>
                  <a:schemeClr val="dk1"/>
                </a:solidFill>
              </a:rPr>
              <a:t> are the q</a:t>
            </a:r>
            <a:r>
              <a:rPr baseline="30000" lang="en" sz="1100">
                <a:solidFill>
                  <a:schemeClr val="dk1"/>
                </a:solidFill>
              </a:rPr>
              <a:t>th</a:t>
            </a:r>
            <a:r>
              <a:rPr lang="en" sz="1100">
                <a:solidFill>
                  <a:schemeClr val="dk1"/>
                </a:solidFill>
              </a:rPr>
              <a:t> feature values of x</a:t>
            </a:r>
            <a:r>
              <a:rPr baseline="-25000" lang="en" sz="1100">
                <a:solidFill>
                  <a:schemeClr val="dk1"/>
                </a:solidFill>
              </a:rPr>
              <a:t>i</a:t>
            </a:r>
            <a:r>
              <a:rPr lang="en" sz="1100">
                <a:solidFill>
                  <a:schemeClr val="dk1"/>
                </a:solidFill>
              </a:rPr>
              <a:t> and x</a:t>
            </a:r>
            <a:r>
              <a:rPr baseline="-25000" lang="en" sz="1100">
                <a:solidFill>
                  <a:schemeClr val="dk1"/>
                </a:solidFill>
              </a:rPr>
              <a:t>r</a:t>
            </a:r>
            <a:r>
              <a:rPr lang="en" sz="1100">
                <a:solidFill>
                  <a:schemeClr val="dk1"/>
                </a:solidFill>
              </a:rPr>
              <a:t> respectively.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The distance vector between xi and H is evaluated through: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i="1" lang="en" sz="1100">
                <a:solidFill>
                  <a:schemeClr val="dk1"/>
                </a:solidFill>
              </a:rPr>
              <a:t>D</a:t>
            </a:r>
            <a:r>
              <a:rPr b="1" baseline="-25000" i="1" lang="en" sz="1100">
                <a:solidFill>
                  <a:schemeClr val="dk1"/>
                </a:solidFill>
              </a:rPr>
              <a:t>iH</a:t>
            </a:r>
            <a:r>
              <a:rPr b="1" i="1" lang="en" sz="1100">
                <a:solidFill>
                  <a:schemeClr val="dk1"/>
                </a:solidFill>
              </a:rPr>
              <a:t> = &lt; d</a:t>
            </a:r>
            <a:r>
              <a:rPr b="1" baseline="-25000" i="1" lang="en" sz="1100">
                <a:solidFill>
                  <a:schemeClr val="dk1"/>
                </a:solidFill>
              </a:rPr>
              <a:t>i1</a:t>
            </a:r>
            <a:r>
              <a:rPr b="1" i="1" lang="en" sz="1100">
                <a:solidFill>
                  <a:schemeClr val="dk1"/>
                </a:solidFill>
              </a:rPr>
              <a:t> d</a:t>
            </a:r>
            <a:r>
              <a:rPr b="1" baseline="-25000" i="1" lang="en" sz="1100">
                <a:solidFill>
                  <a:schemeClr val="dk1"/>
                </a:solidFill>
              </a:rPr>
              <a:t>i2</a:t>
            </a:r>
            <a:r>
              <a:rPr b="1" i="1" lang="en" sz="1100">
                <a:solidFill>
                  <a:schemeClr val="dk1"/>
                </a:solidFill>
              </a:rPr>
              <a:t> d</a:t>
            </a:r>
            <a:r>
              <a:rPr b="1" baseline="-25000" i="1" lang="en" sz="1100">
                <a:solidFill>
                  <a:schemeClr val="dk1"/>
                </a:solidFill>
              </a:rPr>
              <a:t>i3</a:t>
            </a:r>
            <a:r>
              <a:rPr b="1" i="1" lang="en" sz="1100">
                <a:solidFill>
                  <a:schemeClr val="dk1"/>
                </a:solidFill>
              </a:rPr>
              <a:t>  	…d</a:t>
            </a:r>
            <a:r>
              <a:rPr b="1" baseline="-25000" i="1" lang="en" sz="1100">
                <a:solidFill>
                  <a:schemeClr val="dk1"/>
                </a:solidFill>
              </a:rPr>
              <a:t>ia</a:t>
            </a:r>
            <a:r>
              <a:rPr b="1" i="1" lang="en" sz="1100">
                <a:solidFill>
                  <a:schemeClr val="dk1"/>
                </a:solidFill>
              </a:rPr>
              <a:t>	…d</a:t>
            </a:r>
            <a:r>
              <a:rPr b="1" baseline="-25000" i="1" lang="en" sz="1100">
                <a:solidFill>
                  <a:schemeClr val="dk1"/>
                </a:solidFill>
              </a:rPr>
              <a:t>ih</a:t>
            </a:r>
            <a:r>
              <a:rPr b="1" i="1" lang="en" sz="1100">
                <a:solidFill>
                  <a:schemeClr val="dk1"/>
                </a:solidFill>
              </a:rPr>
              <a:t>&gt;</a:t>
            </a:r>
            <a:endParaRPr b="1" i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Here, h ∈ H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H</a:t>
            </a:r>
            <a:r>
              <a:rPr baseline="-25000" lang="en" sz="1100">
                <a:solidFill>
                  <a:schemeClr val="dk1"/>
                </a:solidFill>
              </a:rPr>
              <a:t>a</a:t>
            </a:r>
            <a:r>
              <a:rPr lang="en" sz="1100">
                <a:solidFill>
                  <a:schemeClr val="dk1"/>
                </a:solidFill>
              </a:rPr>
              <a:t> is an instance in H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Then, d</a:t>
            </a:r>
            <a:r>
              <a:rPr baseline="-25000" lang="en" sz="1100">
                <a:solidFill>
                  <a:schemeClr val="dk1"/>
                </a:solidFill>
              </a:rPr>
              <a:t>ia</a:t>
            </a:r>
            <a:r>
              <a:rPr lang="en" sz="1100">
                <a:solidFill>
                  <a:schemeClr val="dk1"/>
                </a:solidFill>
              </a:rPr>
              <a:t> is defined by: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100">
                <a:solidFill>
                  <a:schemeClr val="dk1"/>
                </a:solidFill>
              </a:rPr>
              <a:t>d</a:t>
            </a:r>
            <a:r>
              <a:rPr b="1" baseline="-25000" i="1" lang="en" sz="1100">
                <a:solidFill>
                  <a:schemeClr val="dk1"/>
                </a:solidFill>
              </a:rPr>
              <a:t>ia </a:t>
            </a:r>
            <a:r>
              <a:rPr b="1" i="1" lang="en" sz="1100">
                <a:solidFill>
                  <a:schemeClr val="dk1"/>
                </a:solidFill>
              </a:rPr>
              <a:t> = md(x</a:t>
            </a:r>
            <a:r>
              <a:rPr b="1" baseline="-25000" i="1" lang="en" sz="1100">
                <a:solidFill>
                  <a:schemeClr val="dk1"/>
                </a:solidFill>
              </a:rPr>
              <a:t>i </a:t>
            </a:r>
            <a:r>
              <a:rPr b="1" i="1" lang="en" sz="1100">
                <a:solidFill>
                  <a:schemeClr val="dk1"/>
                </a:solidFill>
              </a:rPr>
              <a:t>, H</a:t>
            </a:r>
            <a:r>
              <a:rPr b="1" baseline="-25000" i="1" lang="en" sz="1100">
                <a:solidFill>
                  <a:schemeClr val="dk1"/>
                </a:solidFill>
              </a:rPr>
              <a:t>a</a:t>
            </a:r>
            <a:r>
              <a:rPr b="1" i="1" lang="en" sz="1100">
                <a:solidFill>
                  <a:schemeClr val="dk1"/>
                </a:solidFill>
              </a:rPr>
              <a:t>)</a:t>
            </a:r>
            <a:endParaRPr b="1" i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Similarly we have: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100">
                <a:solidFill>
                  <a:schemeClr val="dk1"/>
                </a:solidFill>
              </a:rPr>
              <a:t>D</a:t>
            </a:r>
            <a:r>
              <a:rPr b="1" baseline="-25000" i="1" lang="en" sz="1100">
                <a:solidFill>
                  <a:schemeClr val="dk1"/>
                </a:solidFill>
              </a:rPr>
              <a:t>iMj</a:t>
            </a:r>
            <a:r>
              <a:rPr b="1" i="1" lang="en" sz="1100">
                <a:solidFill>
                  <a:schemeClr val="dk1"/>
                </a:solidFill>
              </a:rPr>
              <a:t> = &lt; d</a:t>
            </a:r>
            <a:r>
              <a:rPr b="1" baseline="-25000" i="1" lang="en" sz="1100">
                <a:solidFill>
                  <a:schemeClr val="dk1"/>
                </a:solidFill>
              </a:rPr>
              <a:t>i1</a:t>
            </a:r>
            <a:r>
              <a:rPr b="1" i="1" lang="en" sz="1100">
                <a:solidFill>
                  <a:schemeClr val="dk1"/>
                </a:solidFill>
              </a:rPr>
              <a:t> d</a:t>
            </a:r>
            <a:r>
              <a:rPr b="1" baseline="-25000" i="1" lang="en" sz="1100">
                <a:solidFill>
                  <a:schemeClr val="dk1"/>
                </a:solidFill>
              </a:rPr>
              <a:t>i2</a:t>
            </a:r>
            <a:r>
              <a:rPr b="1" i="1" lang="en" sz="1100">
                <a:solidFill>
                  <a:schemeClr val="dk1"/>
                </a:solidFill>
              </a:rPr>
              <a:t> d</a:t>
            </a:r>
            <a:r>
              <a:rPr b="1" baseline="-25000" i="1" lang="en" sz="1100">
                <a:solidFill>
                  <a:schemeClr val="dk1"/>
                </a:solidFill>
              </a:rPr>
              <a:t>i3</a:t>
            </a:r>
            <a:r>
              <a:rPr b="1" i="1" lang="en" sz="1100">
                <a:solidFill>
                  <a:schemeClr val="dk1"/>
                </a:solidFill>
              </a:rPr>
              <a:t>  	…d</a:t>
            </a:r>
            <a:r>
              <a:rPr b="1" baseline="-25000" i="1" lang="en" sz="1100">
                <a:solidFill>
                  <a:schemeClr val="dk1"/>
                </a:solidFill>
              </a:rPr>
              <a:t>ia</a:t>
            </a:r>
            <a:r>
              <a:rPr b="1" i="1" lang="en" sz="1100">
                <a:solidFill>
                  <a:schemeClr val="dk1"/>
                </a:solidFill>
              </a:rPr>
              <a:t>	…d</a:t>
            </a:r>
            <a:r>
              <a:rPr b="1" baseline="-25000" i="1" lang="en" sz="1100">
                <a:solidFill>
                  <a:schemeClr val="dk1"/>
                </a:solidFill>
              </a:rPr>
              <a:t>iMj</a:t>
            </a:r>
            <a:r>
              <a:rPr b="1" i="1" lang="en" sz="1100">
                <a:solidFill>
                  <a:schemeClr val="dk1"/>
                </a:solidFill>
              </a:rPr>
              <a:t>&gt;, and</a:t>
            </a:r>
            <a:endParaRPr b="1" i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i="1" lang="en" sz="1100">
                <a:solidFill>
                  <a:schemeClr val="dk1"/>
                </a:solidFill>
              </a:rPr>
              <a:t>d</a:t>
            </a:r>
            <a:r>
              <a:rPr b="1" baseline="-25000" i="1" lang="en" sz="1100">
                <a:solidFill>
                  <a:schemeClr val="dk1"/>
                </a:solidFill>
              </a:rPr>
              <a:t>ia </a:t>
            </a:r>
            <a:r>
              <a:rPr b="1" i="1" lang="en" sz="1100">
                <a:solidFill>
                  <a:schemeClr val="dk1"/>
                </a:solidFill>
              </a:rPr>
              <a:t> = md(x</a:t>
            </a:r>
            <a:r>
              <a:rPr b="1" baseline="-25000" i="1" lang="en" sz="1100">
                <a:solidFill>
                  <a:schemeClr val="dk1"/>
                </a:solidFill>
              </a:rPr>
              <a:t>i </a:t>
            </a:r>
            <a:r>
              <a:rPr b="1" i="1" lang="en" sz="1100">
                <a:solidFill>
                  <a:schemeClr val="dk1"/>
                </a:solidFill>
              </a:rPr>
              <a:t>, M</a:t>
            </a:r>
            <a:r>
              <a:rPr b="1" baseline="-25000" i="1" lang="en" sz="1100">
                <a:solidFill>
                  <a:schemeClr val="dk1"/>
                </a:solidFill>
              </a:rPr>
              <a:t>ja</a:t>
            </a:r>
            <a:r>
              <a:rPr b="1" i="1" lang="en" sz="1100">
                <a:solidFill>
                  <a:schemeClr val="dk1"/>
                </a:solidFill>
              </a:rPr>
              <a:t>) for M</a:t>
            </a:r>
            <a:r>
              <a:rPr b="1" baseline="-25000" i="1" lang="en" sz="1100">
                <a:solidFill>
                  <a:schemeClr val="dk1"/>
                </a:solidFill>
              </a:rPr>
              <a:t>j</a:t>
            </a:r>
            <a:r>
              <a:rPr b="1" i="1" lang="en" sz="1100">
                <a:solidFill>
                  <a:schemeClr val="dk1"/>
                </a:solidFill>
              </a:rPr>
              <a:t> (miss points)</a:t>
            </a:r>
            <a:endParaRPr b="1" i="1" sz="1100">
              <a:solidFill>
                <a:schemeClr val="dk1"/>
              </a:solidFill>
            </a:endParaRPr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3675" y="1219775"/>
            <a:ext cx="2202550" cy="64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Mean-based Approach for neighborhood selection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100">
                <a:solidFill>
                  <a:schemeClr val="dk1"/>
                </a:solidFill>
              </a:rPr>
              <a:t>Mean(D</a:t>
            </a:r>
            <a:r>
              <a:rPr b="1" baseline="-25000" i="1" lang="en" sz="1100">
                <a:solidFill>
                  <a:schemeClr val="dk1"/>
                </a:solidFill>
              </a:rPr>
              <a:t>iH</a:t>
            </a:r>
            <a:r>
              <a:rPr b="1" i="1" lang="en" sz="1100">
                <a:solidFill>
                  <a:schemeClr val="dk1"/>
                </a:solidFill>
              </a:rPr>
              <a:t>) = μ</a:t>
            </a:r>
            <a:r>
              <a:rPr b="1" baseline="-25000" i="1" lang="en" sz="1100">
                <a:solidFill>
                  <a:schemeClr val="dk1"/>
                </a:solidFill>
              </a:rPr>
              <a:t>iH</a:t>
            </a:r>
            <a:endParaRPr b="1" baseline="-25000" i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New distance vector equation: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100">
                <a:solidFill>
                  <a:schemeClr val="dk1"/>
                </a:solidFill>
              </a:rPr>
              <a:t>D</a:t>
            </a:r>
            <a:r>
              <a:rPr b="1" baseline="-25000" i="1" lang="en" sz="1100">
                <a:solidFill>
                  <a:schemeClr val="dk1"/>
                </a:solidFill>
              </a:rPr>
              <a:t>iH</a:t>
            </a:r>
            <a:r>
              <a:rPr b="1" baseline="30000" i="1" lang="en" sz="1100">
                <a:solidFill>
                  <a:schemeClr val="dk1"/>
                </a:solidFill>
              </a:rPr>
              <a:t>*</a:t>
            </a:r>
            <a:r>
              <a:rPr b="1" i="1" lang="en" sz="1100">
                <a:solidFill>
                  <a:schemeClr val="dk1"/>
                </a:solidFill>
              </a:rPr>
              <a:t> = &lt; (d</a:t>
            </a:r>
            <a:r>
              <a:rPr b="1" baseline="-25000" i="1" lang="en" sz="1100">
                <a:solidFill>
                  <a:schemeClr val="dk1"/>
                </a:solidFill>
              </a:rPr>
              <a:t>i1</a:t>
            </a:r>
            <a:r>
              <a:rPr b="1" i="1" lang="en" sz="1100">
                <a:solidFill>
                  <a:schemeClr val="dk1"/>
                </a:solidFill>
              </a:rPr>
              <a:t> -μ</a:t>
            </a:r>
            <a:r>
              <a:rPr b="1" baseline="-25000" i="1" lang="en" sz="1100">
                <a:solidFill>
                  <a:schemeClr val="dk1"/>
                </a:solidFill>
              </a:rPr>
              <a:t>iH</a:t>
            </a:r>
            <a:r>
              <a:rPr b="1" i="1" lang="en" sz="1100">
                <a:solidFill>
                  <a:schemeClr val="dk1"/>
                </a:solidFill>
              </a:rPr>
              <a:t>)(d</a:t>
            </a:r>
            <a:r>
              <a:rPr b="1" baseline="-25000" i="1" lang="en" sz="1100">
                <a:solidFill>
                  <a:schemeClr val="dk1"/>
                </a:solidFill>
              </a:rPr>
              <a:t>i2</a:t>
            </a:r>
            <a:r>
              <a:rPr b="1" i="1" lang="en" sz="1100">
                <a:solidFill>
                  <a:schemeClr val="dk1"/>
                </a:solidFill>
              </a:rPr>
              <a:t> -μ</a:t>
            </a:r>
            <a:r>
              <a:rPr b="1" baseline="-25000" i="1" lang="en" sz="1100">
                <a:solidFill>
                  <a:schemeClr val="dk1"/>
                </a:solidFill>
              </a:rPr>
              <a:t>iH</a:t>
            </a:r>
            <a:r>
              <a:rPr b="1" i="1" lang="en" sz="1100">
                <a:solidFill>
                  <a:schemeClr val="dk1"/>
                </a:solidFill>
              </a:rPr>
              <a:t>)(d</a:t>
            </a:r>
            <a:r>
              <a:rPr b="1" baseline="-25000" i="1" lang="en" sz="1100">
                <a:solidFill>
                  <a:schemeClr val="dk1"/>
                </a:solidFill>
              </a:rPr>
              <a:t>i3</a:t>
            </a:r>
            <a:r>
              <a:rPr b="1" i="1" lang="en" sz="1100">
                <a:solidFill>
                  <a:schemeClr val="dk1"/>
                </a:solidFill>
              </a:rPr>
              <a:t> -μ</a:t>
            </a:r>
            <a:r>
              <a:rPr b="1" baseline="-25000" i="1" lang="en" sz="1100">
                <a:solidFill>
                  <a:schemeClr val="dk1"/>
                </a:solidFill>
              </a:rPr>
              <a:t>iH</a:t>
            </a:r>
            <a:r>
              <a:rPr b="1" i="1" lang="en" sz="1100">
                <a:solidFill>
                  <a:schemeClr val="dk1"/>
                </a:solidFill>
              </a:rPr>
              <a:t>) 	…(d</a:t>
            </a:r>
            <a:r>
              <a:rPr b="1" baseline="-25000" i="1" lang="en" sz="1100">
                <a:solidFill>
                  <a:schemeClr val="dk1"/>
                </a:solidFill>
              </a:rPr>
              <a:t>ia</a:t>
            </a:r>
            <a:r>
              <a:rPr b="1" i="1" lang="en" sz="1100">
                <a:solidFill>
                  <a:schemeClr val="dk1"/>
                </a:solidFill>
              </a:rPr>
              <a:t> -μ</a:t>
            </a:r>
            <a:r>
              <a:rPr b="1" baseline="-25000" i="1" lang="en" sz="1100">
                <a:solidFill>
                  <a:schemeClr val="dk1"/>
                </a:solidFill>
              </a:rPr>
              <a:t>iH</a:t>
            </a:r>
            <a:r>
              <a:rPr b="1" i="1" lang="en" sz="1100">
                <a:solidFill>
                  <a:schemeClr val="dk1"/>
                </a:solidFill>
              </a:rPr>
              <a:t>)	…(d</a:t>
            </a:r>
            <a:r>
              <a:rPr b="1" baseline="-25000" i="1" lang="en" sz="1100">
                <a:solidFill>
                  <a:schemeClr val="dk1"/>
                </a:solidFill>
              </a:rPr>
              <a:t>ih</a:t>
            </a:r>
            <a:r>
              <a:rPr b="1" i="1" lang="en" sz="1100">
                <a:solidFill>
                  <a:schemeClr val="dk1"/>
                </a:solidFill>
              </a:rPr>
              <a:t> -μ</a:t>
            </a:r>
            <a:r>
              <a:rPr b="1" baseline="-25000" i="1" lang="en" sz="1100">
                <a:solidFill>
                  <a:schemeClr val="dk1"/>
                </a:solidFill>
              </a:rPr>
              <a:t>iH</a:t>
            </a:r>
            <a:r>
              <a:rPr b="1" i="1" lang="en" sz="1100">
                <a:solidFill>
                  <a:schemeClr val="dk1"/>
                </a:solidFill>
              </a:rPr>
              <a:t>)&gt;</a:t>
            </a:r>
            <a:endParaRPr b="1" i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Similarly, μ</a:t>
            </a:r>
            <a:r>
              <a:rPr baseline="-25000" lang="en" sz="1100">
                <a:solidFill>
                  <a:schemeClr val="dk1"/>
                </a:solidFill>
              </a:rPr>
              <a:t>iMj </a:t>
            </a:r>
            <a:r>
              <a:rPr lang="en" sz="1100">
                <a:solidFill>
                  <a:schemeClr val="dk1"/>
                </a:solidFill>
              </a:rPr>
              <a:t>and  D</a:t>
            </a:r>
            <a:r>
              <a:rPr baseline="-25000" lang="en" sz="1100">
                <a:solidFill>
                  <a:schemeClr val="dk1"/>
                </a:solidFill>
              </a:rPr>
              <a:t>iMj</a:t>
            </a:r>
            <a:r>
              <a:rPr baseline="30000" lang="en" sz="1100">
                <a:solidFill>
                  <a:schemeClr val="dk1"/>
                </a:solidFill>
              </a:rPr>
              <a:t>*</a:t>
            </a:r>
            <a:r>
              <a:rPr lang="en" sz="1100">
                <a:solidFill>
                  <a:schemeClr val="dk1"/>
                </a:solidFill>
              </a:rPr>
              <a:t> are calculated.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The next step towards feature quality estimation is to calculate the values of difference (diff) between x</a:t>
            </a:r>
            <a:r>
              <a:rPr baseline="-25000" lang="en" sz="1100">
                <a:solidFill>
                  <a:schemeClr val="dk1"/>
                </a:solidFill>
              </a:rPr>
              <a:t>i</a:t>
            </a:r>
            <a:r>
              <a:rPr lang="en" sz="1100">
                <a:solidFill>
                  <a:schemeClr val="dk1"/>
                </a:solidFill>
              </a:rPr>
              <a:t> and each of its k neighborhood instances per class for each feature F</a:t>
            </a:r>
            <a:r>
              <a:rPr baseline="-25000" lang="en" sz="1100">
                <a:solidFill>
                  <a:schemeClr val="dk1"/>
                </a:solidFill>
              </a:rPr>
              <a:t>p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The  calculation for numerical features is governed by: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100">
                <a:solidFill>
                  <a:schemeClr val="dk1"/>
                </a:solidFill>
              </a:rPr>
              <a:t>diff(F</a:t>
            </a:r>
            <a:r>
              <a:rPr b="1" baseline="-25000" i="1" lang="en" sz="1100">
                <a:solidFill>
                  <a:schemeClr val="dk1"/>
                </a:solidFill>
              </a:rPr>
              <a:t>p</a:t>
            </a:r>
            <a:r>
              <a:rPr b="1" i="1" lang="en" sz="1100">
                <a:solidFill>
                  <a:schemeClr val="dk1"/>
                </a:solidFill>
              </a:rPr>
              <a:t>, x</a:t>
            </a:r>
            <a:r>
              <a:rPr b="1" baseline="-25000" i="1" lang="en" sz="1100">
                <a:solidFill>
                  <a:schemeClr val="dk1"/>
                </a:solidFill>
              </a:rPr>
              <a:t>i</a:t>
            </a:r>
            <a:r>
              <a:rPr b="1" i="1" lang="en" sz="1100">
                <a:solidFill>
                  <a:schemeClr val="dk1"/>
                </a:solidFill>
              </a:rPr>
              <a:t> , x</a:t>
            </a:r>
            <a:r>
              <a:rPr b="1" baseline="-25000" i="1" lang="en" sz="1100">
                <a:solidFill>
                  <a:schemeClr val="dk1"/>
                </a:solidFill>
              </a:rPr>
              <a:t>r</a:t>
            </a:r>
            <a:r>
              <a:rPr b="1" i="1" lang="en" sz="1100">
                <a:solidFill>
                  <a:schemeClr val="dk1"/>
                </a:solidFill>
              </a:rPr>
              <a:t> ) = | F</a:t>
            </a:r>
            <a:r>
              <a:rPr b="1" baseline="-25000" i="1" lang="en" sz="1100">
                <a:solidFill>
                  <a:schemeClr val="dk1"/>
                </a:solidFill>
              </a:rPr>
              <a:t>pi </a:t>
            </a:r>
            <a:r>
              <a:rPr b="1" i="1" lang="en" sz="1100">
                <a:solidFill>
                  <a:schemeClr val="dk1"/>
                </a:solidFill>
              </a:rPr>
              <a:t> - F</a:t>
            </a:r>
            <a:r>
              <a:rPr b="1" baseline="-25000" i="1" lang="en" sz="1100">
                <a:solidFill>
                  <a:schemeClr val="dk1"/>
                </a:solidFill>
              </a:rPr>
              <a:t>pr </a:t>
            </a:r>
            <a:r>
              <a:rPr b="1" i="1" lang="en" sz="1100">
                <a:solidFill>
                  <a:schemeClr val="dk1"/>
                </a:solidFill>
              </a:rPr>
              <a:t>|  / [ max(F</a:t>
            </a:r>
            <a:r>
              <a:rPr b="1" baseline="-25000" i="1" lang="en" sz="1100">
                <a:solidFill>
                  <a:schemeClr val="dk1"/>
                </a:solidFill>
              </a:rPr>
              <a:t>p</a:t>
            </a:r>
            <a:r>
              <a:rPr b="1" i="1" lang="en" sz="1100">
                <a:solidFill>
                  <a:schemeClr val="dk1"/>
                </a:solidFill>
              </a:rPr>
              <a:t>) - min(F</a:t>
            </a:r>
            <a:r>
              <a:rPr b="1" baseline="-25000" i="1" lang="en" sz="1100">
                <a:solidFill>
                  <a:schemeClr val="dk1"/>
                </a:solidFill>
              </a:rPr>
              <a:t>p</a:t>
            </a:r>
            <a:r>
              <a:rPr b="1" i="1" lang="en" sz="1100">
                <a:solidFill>
                  <a:schemeClr val="dk1"/>
                </a:solidFill>
              </a:rPr>
              <a:t>) ]</a:t>
            </a:r>
            <a:endParaRPr b="1" i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The calculation for categorical features is governed by: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100">
                <a:solidFill>
                  <a:schemeClr val="dk1"/>
                </a:solidFill>
              </a:rPr>
              <a:t>diff(F</a:t>
            </a:r>
            <a:r>
              <a:rPr b="1" baseline="-25000" i="1" lang="en" sz="1100">
                <a:solidFill>
                  <a:schemeClr val="dk1"/>
                </a:solidFill>
              </a:rPr>
              <a:t>p</a:t>
            </a:r>
            <a:r>
              <a:rPr b="1" i="1" lang="en" sz="1100">
                <a:solidFill>
                  <a:schemeClr val="dk1"/>
                </a:solidFill>
              </a:rPr>
              <a:t>, x</a:t>
            </a:r>
            <a:r>
              <a:rPr b="1" baseline="-25000" i="1" lang="en" sz="1100">
                <a:solidFill>
                  <a:schemeClr val="dk1"/>
                </a:solidFill>
              </a:rPr>
              <a:t>i</a:t>
            </a:r>
            <a:r>
              <a:rPr b="1" i="1" lang="en" sz="1100">
                <a:solidFill>
                  <a:schemeClr val="dk1"/>
                </a:solidFill>
              </a:rPr>
              <a:t> , x</a:t>
            </a:r>
            <a:r>
              <a:rPr b="1" baseline="-25000" i="1" lang="en" sz="1100">
                <a:solidFill>
                  <a:schemeClr val="dk1"/>
                </a:solidFill>
              </a:rPr>
              <a:t>r</a:t>
            </a:r>
            <a:r>
              <a:rPr b="1" i="1" lang="en" sz="1100">
                <a:solidFill>
                  <a:schemeClr val="dk1"/>
                </a:solidFill>
              </a:rPr>
              <a:t> ) = 0: F</a:t>
            </a:r>
            <a:r>
              <a:rPr b="1" baseline="-25000" i="1" lang="en" sz="1100">
                <a:solidFill>
                  <a:schemeClr val="dk1"/>
                </a:solidFill>
              </a:rPr>
              <a:t>pi </a:t>
            </a:r>
            <a:r>
              <a:rPr b="1" i="1" lang="en" sz="1100">
                <a:solidFill>
                  <a:schemeClr val="dk1"/>
                </a:solidFill>
              </a:rPr>
              <a:t> = F</a:t>
            </a:r>
            <a:r>
              <a:rPr b="1" baseline="-25000" i="1" lang="en" sz="1100">
                <a:solidFill>
                  <a:schemeClr val="dk1"/>
                </a:solidFill>
              </a:rPr>
              <a:t>pr</a:t>
            </a:r>
            <a:endParaRPr b="1" baseline="-25000" i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baseline="-25000" i="1" lang="en" sz="1100">
                <a:solidFill>
                  <a:schemeClr val="dk1"/>
                </a:solidFill>
              </a:rPr>
              <a:t>		   </a:t>
            </a:r>
            <a:r>
              <a:rPr b="1" i="1" lang="en" sz="1100">
                <a:solidFill>
                  <a:schemeClr val="dk1"/>
                </a:solidFill>
              </a:rPr>
              <a:t>1: otherwise</a:t>
            </a:r>
            <a:endParaRPr b="1" i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b="1" i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Algorithm: μ-Relief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72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Requirements: N ≥ 1 ∨ m ≠ 0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To ensure:  X ∈ R</a:t>
            </a:r>
            <a:r>
              <a:rPr baseline="30000" lang="en" sz="1100">
                <a:solidFill>
                  <a:schemeClr val="dk1"/>
                </a:solidFill>
              </a:rPr>
              <a:t>N</a:t>
            </a:r>
            <a:endParaRPr baseline="30000"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W[N] ⇐ 0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i ⇐ 1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while i ≤ m do:</a:t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x</a:t>
            </a:r>
            <a:r>
              <a:rPr baseline="-25000" lang="en" sz="1100">
                <a:solidFill>
                  <a:schemeClr val="dk1"/>
                </a:solidFill>
              </a:rPr>
              <a:t>i</a:t>
            </a:r>
            <a:r>
              <a:rPr lang="en" sz="1100">
                <a:solidFill>
                  <a:schemeClr val="dk1"/>
                </a:solidFill>
              </a:rPr>
              <a:t> = random(X)</a:t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find(H)</a:t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find(M</a:t>
            </a:r>
            <a:r>
              <a:rPr baseline="-25000" lang="en" sz="1100">
                <a:solidFill>
                  <a:schemeClr val="dk1"/>
                </a:solidFill>
              </a:rPr>
              <a:t>j</a:t>
            </a:r>
            <a:r>
              <a:rPr lang="en" sz="1100">
                <a:solidFill>
                  <a:schemeClr val="dk1"/>
                </a:solidFill>
              </a:rPr>
              <a:t>)</a:t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D</a:t>
            </a:r>
            <a:r>
              <a:rPr baseline="-25000" lang="en" sz="1100">
                <a:solidFill>
                  <a:schemeClr val="dk1"/>
                </a:solidFill>
              </a:rPr>
              <a:t>H</a:t>
            </a:r>
            <a:r>
              <a:rPr lang="en" sz="1100">
                <a:solidFill>
                  <a:schemeClr val="dk1"/>
                </a:solidFill>
              </a:rPr>
              <a:t> , DMj = md(x</a:t>
            </a:r>
            <a:r>
              <a:rPr baseline="-25000" lang="en" sz="1100">
                <a:solidFill>
                  <a:schemeClr val="dk1"/>
                </a:solidFill>
              </a:rPr>
              <a:t>i</a:t>
            </a:r>
            <a:r>
              <a:rPr lang="en" sz="1100">
                <a:solidFill>
                  <a:schemeClr val="dk1"/>
                </a:solidFill>
              </a:rPr>
              <a:t>, x</a:t>
            </a:r>
            <a:r>
              <a:rPr baseline="-25000" lang="en" sz="1100">
                <a:solidFill>
                  <a:schemeClr val="dk1"/>
                </a:solidFill>
              </a:rPr>
              <a:t>r</a:t>
            </a:r>
            <a:r>
              <a:rPr lang="en" sz="1100">
                <a:solidFill>
                  <a:schemeClr val="dk1"/>
                </a:solidFill>
              </a:rPr>
              <a:t>)</a:t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compute(μ</a:t>
            </a:r>
            <a:r>
              <a:rPr baseline="-25000" lang="en" sz="1100">
                <a:solidFill>
                  <a:schemeClr val="dk1"/>
                </a:solidFill>
              </a:rPr>
              <a:t>iH</a:t>
            </a:r>
            <a:r>
              <a:rPr lang="en" sz="1100">
                <a:solidFill>
                  <a:schemeClr val="dk1"/>
                </a:solidFill>
              </a:rPr>
              <a:t> ), compute(μ</a:t>
            </a:r>
            <a:r>
              <a:rPr baseline="-25000" lang="en" sz="1100">
                <a:solidFill>
                  <a:schemeClr val="dk1"/>
                </a:solidFill>
              </a:rPr>
              <a:t>iMj</a:t>
            </a:r>
            <a:r>
              <a:rPr lang="en" sz="1100">
                <a:solidFill>
                  <a:schemeClr val="dk1"/>
                </a:solidFill>
              </a:rPr>
              <a:t>)</a:t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D</a:t>
            </a:r>
            <a:r>
              <a:rPr baseline="-25000" lang="en" sz="1100">
                <a:solidFill>
                  <a:schemeClr val="dk1"/>
                </a:solidFill>
              </a:rPr>
              <a:t>H</a:t>
            </a:r>
            <a:r>
              <a:rPr baseline="30000" lang="en" sz="1100">
                <a:solidFill>
                  <a:schemeClr val="dk1"/>
                </a:solidFill>
              </a:rPr>
              <a:t>* </a:t>
            </a:r>
            <a:r>
              <a:rPr lang="en" sz="1100">
                <a:solidFill>
                  <a:schemeClr val="dk1"/>
                </a:solidFill>
              </a:rPr>
              <a:t>= D - μ</a:t>
            </a:r>
            <a:r>
              <a:rPr baseline="-25000" lang="en" sz="1100">
                <a:solidFill>
                  <a:schemeClr val="dk1"/>
                </a:solidFill>
              </a:rPr>
              <a:t>iH</a:t>
            </a:r>
            <a:r>
              <a:rPr lang="en" sz="1100">
                <a:solidFill>
                  <a:schemeClr val="dk1"/>
                </a:solidFill>
              </a:rPr>
              <a:t> ,D</a:t>
            </a:r>
            <a:r>
              <a:rPr baseline="-25000" lang="en" sz="1100">
                <a:solidFill>
                  <a:schemeClr val="dk1"/>
                </a:solidFill>
              </a:rPr>
              <a:t>Mj</a:t>
            </a:r>
            <a:r>
              <a:rPr baseline="30000" lang="en" sz="1100">
                <a:solidFill>
                  <a:schemeClr val="dk1"/>
                </a:solidFill>
              </a:rPr>
              <a:t>* </a:t>
            </a:r>
            <a:r>
              <a:rPr lang="en" sz="1100">
                <a:solidFill>
                  <a:schemeClr val="dk1"/>
                </a:solidFill>
              </a:rPr>
              <a:t>= D -  μ</a:t>
            </a:r>
            <a:r>
              <a:rPr baseline="-25000" lang="en" sz="1100">
                <a:solidFill>
                  <a:schemeClr val="dk1"/>
                </a:solidFill>
              </a:rPr>
              <a:t>iMj</a:t>
            </a:r>
            <a:endParaRPr baseline="-25000" sz="11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farthest_neighbour(D</a:t>
            </a:r>
            <a:r>
              <a:rPr baseline="-25000" lang="en" sz="1100">
                <a:solidFill>
                  <a:schemeClr val="dk1"/>
                </a:solidFill>
              </a:rPr>
              <a:t>H</a:t>
            </a:r>
            <a:r>
              <a:rPr baseline="30000" lang="en" sz="1100">
                <a:solidFill>
                  <a:schemeClr val="dk1"/>
                </a:solidFill>
              </a:rPr>
              <a:t>*</a:t>
            </a:r>
            <a:r>
              <a:rPr lang="en" sz="1100">
                <a:solidFill>
                  <a:schemeClr val="dk1"/>
                </a:solidFill>
              </a:rPr>
              <a:t> , k), farthest_neighbour(D</a:t>
            </a:r>
            <a:r>
              <a:rPr baseline="-25000" lang="en" sz="1100">
                <a:solidFill>
                  <a:schemeClr val="dk1"/>
                </a:solidFill>
              </a:rPr>
              <a:t>Mj</a:t>
            </a:r>
            <a:r>
              <a:rPr baseline="30000" lang="en" sz="1100">
                <a:solidFill>
                  <a:schemeClr val="dk1"/>
                </a:solidFill>
              </a:rPr>
              <a:t>*</a:t>
            </a:r>
            <a:r>
              <a:rPr lang="en" sz="1100">
                <a:solidFill>
                  <a:schemeClr val="dk1"/>
                </a:solidFill>
              </a:rPr>
              <a:t> , k)</a:t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a=1</a:t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while a ≤ N do:</a:t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a ⇐ a + 1</a:t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end while</a:t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i ⇐ i + 1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end while</a:t>
            </a:r>
            <a:endParaRPr/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5800" y="3291125"/>
            <a:ext cx="2412325" cy="74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Inverted μ-Relief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Core Concept: 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Inveirting Relief to mine for confusion instead of quality, using the Relief Score(W).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From μ-Relief we get W[N] for each of the features of a class, where,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High W: Features that can be used to clearly separate classes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Low W: Feature is noisy and results in confused classification of classes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Inversion: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Focus on points instead of whole features of a class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Focus on hard points(low relief score(W)) instead of easy to determine points to get better results.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Looking for points with Low Relief score to find k-nearest Hits and k-nearest Misses that are nearly indistinguishable. These hard positives are identified via a metric of risk score (R</a:t>
            </a:r>
            <a:r>
              <a:rPr baseline="-25000" lang="en" sz="1100">
                <a:solidFill>
                  <a:schemeClr val="dk1"/>
                </a:solidFill>
              </a:rPr>
              <a:t>risk</a:t>
            </a:r>
            <a:r>
              <a:rPr lang="en" sz="1100">
                <a:solidFill>
                  <a:schemeClr val="dk1"/>
                </a:solidFill>
              </a:rPr>
              <a:t>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Mathematical Formulation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UcPeriod"/>
            </a:pPr>
            <a:r>
              <a:rPr lang="en" sz="1100">
                <a:solidFill>
                  <a:schemeClr val="dk1"/>
                </a:solidFill>
              </a:rPr>
              <a:t>Calculate local geometric confusion (G</a:t>
            </a:r>
            <a:r>
              <a:rPr baseline="-25000" lang="en" sz="1100">
                <a:solidFill>
                  <a:schemeClr val="dk1"/>
                </a:solidFill>
              </a:rPr>
              <a:t>conf</a:t>
            </a:r>
            <a:r>
              <a:rPr lang="en" sz="1100">
                <a:solidFill>
                  <a:schemeClr val="dk1"/>
                </a:solidFill>
              </a:rPr>
              <a:t>)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For any p</a:t>
            </a:r>
            <a:r>
              <a:rPr baseline="-25000" lang="en" sz="1100">
                <a:solidFill>
                  <a:schemeClr val="dk1"/>
                </a:solidFill>
              </a:rPr>
              <a:t>i</a:t>
            </a:r>
            <a:r>
              <a:rPr lang="en" sz="1100">
                <a:solidFill>
                  <a:schemeClr val="dk1"/>
                </a:solidFill>
              </a:rPr>
              <a:t> ∈ P with class label ‘C’: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		Find H</a:t>
            </a:r>
            <a:r>
              <a:rPr baseline="-25000" lang="en" sz="1100">
                <a:solidFill>
                  <a:schemeClr val="dk1"/>
                </a:solidFill>
              </a:rPr>
              <a:t>i </a:t>
            </a:r>
            <a:r>
              <a:rPr lang="en" sz="1100">
                <a:solidFill>
                  <a:schemeClr val="dk1"/>
                </a:solidFill>
              </a:rPr>
              <a:t> and M</a:t>
            </a:r>
            <a:r>
              <a:rPr baseline="-25000" lang="en" sz="1100">
                <a:solidFill>
                  <a:schemeClr val="dk1"/>
                </a:solidFill>
              </a:rPr>
              <a:t>i</a:t>
            </a:r>
            <a:endParaRPr baseline="-25000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en" sz="1100">
                <a:solidFill>
                  <a:schemeClr val="dk1"/>
                </a:solidFill>
              </a:rPr>
              <a:t>	</a:t>
            </a:r>
            <a:r>
              <a:rPr lang="en" sz="1100">
                <a:solidFill>
                  <a:schemeClr val="dk1"/>
                </a:solidFill>
              </a:rPr>
              <a:t>To find outliers (use adoptive μ-Relief):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	Confusion ratio- Instead of subtracting we use ratio to determine whether a point is closer to a hit or a miss.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		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3375" y="2092075"/>
            <a:ext cx="1705150" cy="84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3375" y="3228850"/>
            <a:ext cx="1705150" cy="5085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Mathematical Formulation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B.	Inversion score for class imbalance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	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	Here, N</a:t>
            </a:r>
            <a:r>
              <a:rPr baseline="-25000" lang="en" sz="1100">
                <a:solidFill>
                  <a:schemeClr val="dk1"/>
                </a:solidFill>
              </a:rPr>
              <a:t>c</a:t>
            </a:r>
            <a:r>
              <a:rPr lang="en" sz="1100">
                <a:solidFill>
                  <a:schemeClr val="dk1"/>
                </a:solidFill>
              </a:rPr>
              <a:t> is the total count of points for class ‘C’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To find Hard-Prompt score: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2" name="Google Shape;10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8300" y="1152475"/>
            <a:ext cx="4782575" cy="79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7900" y="2436838"/>
            <a:ext cx="1343936" cy="26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7900" y="3326700"/>
            <a:ext cx="2498814" cy="26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227800" y="116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Cost matrix</a:t>
            </a:r>
            <a:endParaRPr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1144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InvMuRFlowchart.png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Modify the cost matrix to be used in Hungarian matcher: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Breakdown: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</a:t>
            </a:r>
            <a:r>
              <a:rPr lang="en"/>
              <a:t>     </a:t>
            </a:r>
            <a:r>
              <a:rPr lang="en"/>
              <a:t>      : Standard distance (L1/L2). It maintains spatial coherence.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        : The Inversion. As the relief score decreases (the point becomes harder or noisier), the cost to match it increases significantly.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Result: The Hungarian solver is "forced" to find a good match for the Chair Leg, because failing to do so results in a huge penalty in the cost matrix.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0000" y="1841050"/>
            <a:ext cx="3972350" cy="51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699" y="2875250"/>
            <a:ext cx="568575" cy="1964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7800" y="3128700"/>
            <a:ext cx="652486" cy="26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