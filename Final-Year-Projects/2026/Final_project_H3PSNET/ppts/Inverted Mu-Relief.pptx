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684512C-C172-4843-A7B0-BB0B415BD3F4}">
  <a:tblStyle styleId="{8684512C-C172-4843-A7B0-BB0B415BD3F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6FF5CE79-FCE8-4B75-8E65-5799E558D325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143b072f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143b072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182894a4e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182894a4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182894a4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182894a4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182894a4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182894a4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182894a4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182894a4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182894a4e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182894a4e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182894a4e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182894a4e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182894a4e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182894a4e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182894a4e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182894a4e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182894a4e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b182894a4e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182894a4e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182894a4e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rive.google.com/file/d/1NHzAXSr-5rjSSwfngkrWRrmkN6DfMLNG/view?usp=drive_link" TargetMode="External"/><Relationship Id="rId4" Type="http://schemas.openxmlformats.org/officeDocument/2006/relationships/hyperlink" Target="https://drive.google.com/file/d/1GrF0gPdvG5d1oLNRoELAYvlxjliv-x8j/view?usp=drive_link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Inverted μ-Relief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Improved 3d scene segmentation via uncertainty-guided hard-prompt mining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 3D Class Imbalance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The Scenario: In 3D point clouds, major classes like walls, floors, and roads take up most of the space. Minority classes, such as chair legs, pedestrians, and poles, are rare and thin.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The Statistic: In typical semantic segmentation datasets, such as Shapenet or S3DIS, background classes can outnumber foreground objects by more than 50 to 1 or even 100 to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The Failure Mode: Standard models focus on overall accuracy. Missing a thin chair leg, which makes up only 0.1% of the points, doesn't affect the model's "loss" much. As a result, the model tends to overlook it to focus on the large wall.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84950" y="111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Reasons</a:t>
            </a:r>
            <a:endParaRPr/>
          </a:p>
        </p:txBody>
      </p:sp>
      <p:graphicFrame>
        <p:nvGraphicFramePr>
          <p:cNvPr id="67" name="Google Shape;67;p15"/>
          <p:cNvGraphicFramePr/>
          <p:nvPr/>
        </p:nvGraphicFramePr>
        <p:xfrm>
          <a:off x="561850" y="684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{8684512C-C172-4843-A7B0-BB0B415BD3F4}</a:tableStyleId>
              </a:tblPr>
              <a:tblGrid>
                <a:gridCol w="1444025"/>
                <a:gridCol w="2885525"/>
                <a:gridCol w="3422175"/>
              </a:tblGrid>
              <a:tr h="404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Reason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Description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Impact on datasets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Natural Representation Gaps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Uneven frequency of object occurrence in the real world or synthetic libraries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In S3DIS, background classes like wall and floor are ample, while structural classes like beams represent 0.2% of labels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Physical Size Imbalance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Disparity in surface area directly affects the number of points captured for an object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Large surfaces (walls) generate millions of points, while smaller objects (clutter) produce fewer, training the model to skip small objects to maximize OA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Sensor Artifacts ("Jittery" Objects)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"Real-world" noise, such as scanning shadows or rotation perturbations, creates unstable geometric features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In S3DIS, thin or complex objects appear "jittery" due to noise, making them harder for models to learn compared to clean, flat surfaces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Semantic &amp; Feature Confusion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High intraclass diversity and interclass ambiguity make distinguishing between similar shapes difficult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In ShapeNet, many distinct physical objects are grouped into a single clutter category (over 39% of data), forcing the model to learn a massive variety of shapes under one label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μ</a:t>
            </a:r>
            <a:r>
              <a:rPr lang="en"/>
              <a:t>-</a:t>
            </a:r>
            <a:r>
              <a:rPr lang="en"/>
              <a:t>Relief Feature Selection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Origin: μ-Relief is a feature selection method meant to work better with noisy data than standard ReliefF.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Core Concept: It calculates a score based on local neighborhoods.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High Score: The point is distinct and well-separated, making it easy to classify.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Low Score: The point is confused or surrounded by different classes, which makes it noisy or hard to classify.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Imbalance Trap: In its raw form, μ-Relief gives low scores to minority points since they often resemble noise or outliers, while majority points receive high scores.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 we can't use it directly: If we told the model to "prioritize high scores," it would just learn the boundaries and ignore the details.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Inverted </a:t>
            </a:r>
            <a:r>
              <a:rPr lang="en"/>
              <a:t>μ-Relief 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we change the logic to tackle the problem?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Pivot: Instead of using μ-Relief to choose features, we use it to find difficulty.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Inversion Logic: If a Ground Truth point has a low μ-Relief score (it is crowded, surrounded by other classes, or "noisy"), we treat it as a high-priority target.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Novelty: This changes a "Feature Quality Metric" into a "Geometric Hard Example Miner." We are clearly instructing the solver: "This point is hard to distinguish; therefore, you must pay more attention to it."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Adaptive Cost reweighting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does </a:t>
            </a:r>
            <a:r>
              <a:rPr lang="en"/>
              <a:t>mathematical implementation</a:t>
            </a:r>
            <a:r>
              <a:rPr lang="en"/>
              <a:t> fit into the code?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 modify the Cost Matrix C used in the Hungarian Matcher.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Breakdown: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       : Standard distance (L1/L2). It maintains spatial coherence.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       : The Inversion. As the relief score decreases (the point becomes harder or noisier), the cost to match it increases significantly.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Result: The Hungarian solver is "forced" to find a good match for the Chair Leg, because failing to do so results in a huge penalty in the cost matrix.</a:t>
            </a:r>
            <a:endParaRPr/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6494" y="1964100"/>
            <a:ext cx="4409855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675" y="3167825"/>
            <a:ext cx="652486" cy="26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4675" y="2800625"/>
            <a:ext cx="780770" cy="26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Impact 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Geometric Sensitivity, specifically improves performance on "thin" structures, such as poles, legs, and edges, that usually get lost in the noise.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Noise Robustness inherits the benefits of μ-Relief. It better distinguishes between "random sensor noise" and "hard minority points" compared to standard density measures.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Solver Guidance helps the Hungarian Matcher treat difficult points more fairly, instead of just focusing on optimizing for the easier bulk volume.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Flowcharts</a:t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https://drive.google.com/file/d/1NHzAXSr-5rjSSwfngkrWRrmkN6DfMLNG/view?usp=drive_link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https://drive.google.com/file/d/1GrF0gPdvG5d1oLNRoELAYvlxjliv-x8j/view?usp=drive_link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differences 1</a:t>
            </a:r>
            <a:endParaRPr/>
          </a:p>
        </p:txBody>
      </p:sp>
      <p:graphicFrame>
        <p:nvGraphicFramePr>
          <p:cNvPr id="106" name="Google Shape;106;p21"/>
          <p:cNvGraphicFramePr/>
          <p:nvPr/>
        </p:nvGraphicFramePr>
        <p:xfrm>
          <a:off x="665100" y="1137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{6FF5CE79-FCE8-4B75-8E65-5799E558D325}</a:tableStyleId>
              </a:tblPr>
              <a:tblGrid>
                <a:gridCol w="1707775"/>
                <a:gridCol w="3371650"/>
                <a:gridCol w="3006425"/>
              </a:tblGrid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Step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μ-Relief 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Inverted μ-Relief 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Goal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Feature Selection (Find informative columns)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Sample Weighting (Find hard-to-classify rows)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Input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A dataset with many features.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A 3D Point Cloud (Ground Truth vs Prediction).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Filter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Uses </a:t>
                      </a: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μ</a:t>
                      </a: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 to ignore redundant neighbors (too close).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Uses </a:t>
                      </a: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μ</a:t>
                      </a: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 to identify noisy/dense regions.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41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Output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A vector of Weights for Features (e.g., "Color is important, Position is not").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A Cost Matrix for the Hungarian Solver.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127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differences 2</a:t>
            </a:r>
            <a:endParaRPr/>
          </a:p>
        </p:txBody>
      </p:sp>
      <p:graphicFrame>
        <p:nvGraphicFramePr>
          <p:cNvPr id="112" name="Google Shape;112;p22"/>
          <p:cNvGraphicFramePr/>
          <p:nvPr/>
        </p:nvGraphicFramePr>
        <p:xfrm>
          <a:off x="250025" y="933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{6FF5CE79-FCE8-4B75-8E65-5799E558D325}</a:tableStyleId>
              </a:tblPr>
              <a:tblGrid>
                <a:gridCol w="1462550"/>
                <a:gridCol w="1913275"/>
                <a:gridCol w="1471750"/>
                <a:gridCol w="1545350"/>
                <a:gridCol w="2318000"/>
              </a:tblGrid>
              <a:tr h="52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Mechanism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Core Logic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Spatial Awareness?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Handling "Hard" Examples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Weakness in 3D Point Clouds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48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SMOTE / ADASYN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Generative Oversampling: Creates synthetic points between minority samples to balance counts.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No. Interpolates in feature space, ignoring physical geometry.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Low. Often creates noise at boundaries.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Destroys Geometry: It creates "ghost points" in empty space confusing the structural understanding of the scene.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Cost-Sensitive Learning (e.g., Weighted SVM/Cross-Entropy)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Static Weighting: Multiplies loss by a fixed class weight 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No. Applies globally to the class, regardless of context.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Low. Treats an "easy" chair point the same as a "hard" one.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False Positives: By boosting the </a:t>
                      </a:r>
                      <a:r>
                        <a:rPr i="1" lang="en" sz="1100">
                          <a:solidFill>
                            <a:srgbClr val="1F1F1F"/>
                          </a:solidFill>
                        </a:rPr>
                        <a:t>entire</a:t>
                      </a: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 class, the model becomes paranoid and starts predicting "Chair" everywhere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Standard μ-Relief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Feature Selection: Keeps features that separate classes well; discards "noisy" features.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No. Evaluates feature columns, not spatial point instances.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No. It </a:t>
                      </a:r>
                      <a:r>
                        <a:rPr i="1" lang="en" sz="1100">
                          <a:solidFill>
                            <a:srgbClr val="1F1F1F"/>
                          </a:solidFill>
                        </a:rPr>
                        <a:t>avoids</a:t>
                      </a: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 noise rather than solving for it.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Wrong Tool: It is a metric for </a:t>
                      </a:r>
                      <a:r>
                        <a:rPr i="1" lang="en" sz="1100">
                          <a:solidFill>
                            <a:srgbClr val="1F1F1F"/>
                          </a:solidFill>
                        </a:rPr>
                        <a:t>features</a:t>
                      </a: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, not a solver for </a:t>
                      </a:r>
                      <a:r>
                        <a:rPr i="1" lang="en" sz="1100">
                          <a:solidFill>
                            <a:srgbClr val="1F1F1F"/>
                          </a:solidFill>
                        </a:rPr>
                        <a:t>predictions</a:t>
                      </a: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. It would discard the minority class as "noise."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182450" y="95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differences 3</a:t>
            </a:r>
            <a:endParaRPr/>
          </a:p>
        </p:txBody>
      </p:sp>
      <p:graphicFrame>
        <p:nvGraphicFramePr>
          <p:cNvPr id="118" name="Google Shape;118;p23"/>
          <p:cNvGraphicFramePr/>
          <p:nvPr/>
        </p:nvGraphicFramePr>
        <p:xfrm>
          <a:off x="258200" y="632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{6FF5CE79-FCE8-4B75-8E65-5799E558D325}</a:tableStyleId>
              </a:tblPr>
              <a:tblGrid>
                <a:gridCol w="1514475"/>
                <a:gridCol w="1981200"/>
                <a:gridCol w="1524000"/>
                <a:gridCol w="1600200"/>
                <a:gridCol w="1879425"/>
              </a:tblGrid>
              <a:tr h="52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Mechanism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Core Logic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Spatial Awareness?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Handling "Hard" Examples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Weakness in 3D Point Clouds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Plain Hungarian Matching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Global Assignment: Minimizes total geometric distance between predictions and truth.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Yes. Matches based on position.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No. Optimizes for the "bulk" majority 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Majority Bias: The solver realizes it is mathematically "cheaper" to ignore the thin chair leg.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19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Focal Loss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Gradient Reshaping: Down-weights easy examples during back-propagation.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No. Operates on probability outputs, not matching geometry.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Yes. Focuses on low-confidence predictions.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Too Late: It only fixes the </a:t>
                      </a:r>
                      <a:r>
                        <a:rPr i="1" lang="en" sz="1100">
                          <a:solidFill>
                            <a:srgbClr val="1F1F1F"/>
                          </a:solidFill>
                        </a:rPr>
                        <a:t>gradient</a:t>
                      </a: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. If the Hungarian Matcher never assigns a prediction to the chair leg in the first place, Focal Loss has nothing to fix.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Inverted μ-Relief (Proposed)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Geometric Hard Mining: Dynamically re-weights the matching cost based on local distinctiveness.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Yes. Derived directly from spatial neighbors.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High. Specifically targets points that are "confused" or sparse.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N/A. It bridges the gap: it uses geometry to force the Solver (Hungarian) to prioritize Hard Examples before the loss is even calculated.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Novelty</a:t>
            </a:r>
            <a:endParaRPr/>
          </a:p>
        </p:txBody>
      </p:sp>
      <p:sp>
        <p:nvSpPr>
          <p:cNvPr id="124" name="Google Shape;124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Proactive Solver Guidance vs. Reactive Loss Correction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Focal Loss/Cross Entropy: These methods are reactive. They wait for the model to make a prediction, calculate the error, and then try to increase gradients for the minority class.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Innovation: Inverted μ-Relief is proactive. By changing the Cost Matrix before solving the assignment, we fundamentally change the Bipartite Matching problem. We make the solver recognize hard examples before calculating the loss.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2. Geometry-Induced "Hardness" (A Priori Mining)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OHEM: Standard Hard Example Mining finds "hard" samples based on high training loss. This means the model got this wrong, so it seems hard. This approach is unstable early in training.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Innovation: We define "hardness" using intrinsic data geometry (the μ-Relief score). We recognize a point is hard because it is geometrically isolated or confused, regardless of the model's current state. This gives us a stable difficulty measure based on true ground truth.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3. Instance-Level Granularity vs. Class-Level Bluntness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Class Weights: "Chairs are rare, so multiply all Chair errors by 10." This treats a distinct chair back, which is easy, the same as a thin chair leg, which is hard.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Innovation: Instance-Adaptive Weighting. Our method applies weights to each point, not each class. A confused point gets a high weight; a clear point gets a normal weight. This stops the model from overfitting to easy examples in a minority class.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